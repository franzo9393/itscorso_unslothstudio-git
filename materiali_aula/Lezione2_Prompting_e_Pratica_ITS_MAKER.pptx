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1">
                <a:solidFill>
                  <a:srgbClr val="7DD3FC"/>
                </a:solidFill>
                <a:latin typeface="Arial"/>
              </a:defRPr>
            </a:pPr>
            <a:r>
              <a:t>DIGITALIZZARE I PROCESSI CON L'AI</a:t>
            </a:r>
          </a:p>
          <a:p>
            <a:pPr>
              <a:spcAft>
                <a:spcPts val="2200"/>
              </a:spcAft>
              <a:defRPr sz="3200" b="1">
                <a:solidFill>
                  <a:srgbClr val="FFFFFF"/>
                </a:solidFill>
                <a:latin typeface="Arial"/>
              </a:defRPr>
            </a:pPr>
            <a:r>
              <a:t>Lezione 2 · Tecniche di Prompting d'Officina</a:t>
            </a:r>
            <a:br/>
            <a:r>
              <a:t>e Guida Operativa degli LLM</a:t>
            </a:r>
          </a:p>
          <a:p>
            <a:pPr>
              <a:defRPr sz="1600">
                <a:solidFill>
                  <a:srgbClr val="CBD5E1"/>
                </a:solidFill>
                <a:latin typeface="Arial"/>
              </a:defRPr>
            </a:pPr>
            <a:r>
              <a:t>ITS MAKER Bologna · Corso Tecnico Superiore Digitalizzazione Processi Industriali</a:t>
            </a:r>
            <a:br/>
            <a:r>
              <a:t>4 micro-attività pratiche a coppie: formato, few-shot, calcoli e allucinazioni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64A0"/>
                </a:solidFill>
                <a:latin typeface="Arial"/>
              </a:defRPr>
            </a:pPr>
            <a:r>
              <a:t>ITS MAKER · DIGITALIZZAZIONE PROCESSI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7344D"/>
                </a:solidFill>
                <a:latin typeface="Arial"/>
              </a:defRPr>
            </a:pPr>
            <a:r>
              <a:t>Il piano di oggi: la regola del «10 – 10 – 5»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37560" cy="29260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2971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64A0"/>
                </a:solidFill>
              </a:defRPr>
            </a:pPr>
            <a:r>
              <a:t>1. Micro-lezione (5-7 min)</a:t>
            </a:r>
          </a:p>
          <a:p>
            <a:pPr>
              <a:spcAft>
                <a:spcPts val="1000"/>
              </a:spcAft>
              <a:defRPr sz="1300" b="1">
                <a:solidFill>
                  <a:srgbClr val="17344D"/>
                </a:solidFill>
              </a:defRPr>
            </a:pPr>
            <a:r>
              <a:t>Un problema d'officina per volta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Vediamo a video il limite naturale dell'AI e capiamo dove rischia di sbagliare.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16552" y="1463040"/>
            <a:ext cx="3337560" cy="29260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99432" y="1645920"/>
            <a:ext cx="2971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27100"/>
                </a:solidFill>
              </a:defRPr>
            </a:pPr>
            <a:r>
              <a:t>2. Sfida a coppie (10-12 min)</a:t>
            </a:r>
          </a:p>
          <a:p>
            <a:pPr>
              <a:spcAft>
                <a:spcPts val="1000"/>
              </a:spcAft>
              <a:defRPr sz="1300" b="1">
                <a:solidFill>
                  <a:srgbClr val="17344D"/>
                </a:solidFill>
              </a:defRPr>
            </a:pPr>
            <a:r>
              <a:t>Lavoro hands-on al computer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Ruoli alternati: 1 persona scrive il prompt, 1 persona collauda l'esito sui dati reali.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1584" y="1463040"/>
            <a:ext cx="3337560" cy="29260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84464" y="1645920"/>
            <a:ext cx="2971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A9C8C"/>
                </a:solidFill>
              </a:defRPr>
            </a:pPr>
            <a:r>
              <a:t>3. Debrief (5 min)</a:t>
            </a:r>
          </a:p>
          <a:p>
            <a:pPr>
              <a:spcAft>
                <a:spcPts val="1000"/>
              </a:spcAft>
              <a:defRPr sz="1300" b="1">
                <a:solidFill>
                  <a:srgbClr val="17344D"/>
                </a:solidFill>
              </a:defRPr>
            </a:pPr>
            <a:r>
              <a:t>Regola d'oro di processo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Proiettiamo i prompt, analizziamo cosa ha funzionato e fissiamo la buona pratica.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75488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300">
                <a:solidFill>
                  <a:srgbClr val="17344D"/>
                </a:solidFill>
              </a:defRPr>
            </a:pPr>
            <a:r>
              <a:t>LE 4 SFIDE DELLA LEZIONE: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1. «Basta chiacchiere»: vincoli e tabelle  |  2. «Un esempio vale 1000 parole»: Few-Shot d'officina</a:t>
            </a:r>
            <a:br/>
            <a:r>
              <a:t>3. «La calcolatrice che sbaglia»: passaggi logici CoT  |  4. «Il test del trabocchetto»: bloccare le allucinazioni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64A0"/>
                </a:solidFill>
                <a:latin typeface="Arial"/>
              </a:defRPr>
            </a:pPr>
            <a:r>
              <a:t>ITS MAKER · DIGITALIZZAZIONE PROCESSI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7344D"/>
                </a:solidFill>
                <a:latin typeface="Arial"/>
              </a:defRPr>
            </a:pPr>
            <a:r>
              <a:t>Il nostro pezzo grezzo: il rapporto di fermo (DOC-FERMO)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114800" cy="47548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74903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400">
                <a:solidFill>
                  <a:srgbClr val="1064A0"/>
                </a:solidFill>
              </a:defRPr>
            </a:pPr>
            <a:r>
              <a:t>COME USEREMO QUESTO TESTO: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È un rapporto didattico reale d'officina (DOC-FERMO nel vostro repository).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Tutte e 4 le sfide di oggi lavorano su questo identico frammento.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Copiatelo e incollatelo nella finestra di chat con cui lavorerete a coppie.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Il vostro compito sarà guidare l'AI ad estrarre, formattare, calcolare e astenersi.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1463040"/>
            <a:ext cx="6309360" cy="4754880"/>
          </a:xfrm>
          <a:prstGeom prst="roundRect">
            <a:avLst/>
          </a:prstGeom>
          <a:solidFill>
            <a:srgbClr val="182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94960" y="1737360"/>
            <a:ext cx="5760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200">
                <a:solidFill>
                  <a:srgbClr val="7DD3FC"/>
                </a:solidFill>
              </a:defRPr>
            </a:pPr>
            <a:r>
              <a:t>TESTO DA COPIARE NELLA CHAT:</a:t>
            </a:r>
          </a:p>
          <a:p>
            <a:pPr>
              <a:defRPr sz="1300">
                <a:solidFill>
                  <a:srgbClr val="FFFFFF"/>
                </a:solidFill>
                <a:latin typeface="Consolas"/>
              </a:defRPr>
            </a:pPr>
            <a:r>
              <a:t>Rapporto del 14 Ottobre (DOC-FERMO):</a:t>
            </a:r>
            <a:br/>
            <a:br/>
            <a:r>
              <a:t>Ore 14:20: la pressa P03 si è fermata per sovratemperatura dell'olio idraulico. Temperatura registrata: 78 °C. Soglia: 65 °C. Sostituito il filtro intasato con il ricambio FLT-992.</a:t>
            </a:r>
            <a:br/>
            <a:br/>
            <a:r>
              <a:t>Fermo macchina totale: 45 minuti.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64A0"/>
                </a:solidFill>
                <a:latin typeface="Arial"/>
              </a:defRPr>
            </a:pPr>
            <a:r>
              <a:t>ITS MAKER · DIGITALIZZAZIONE PROCESSI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7344D"/>
                </a:solidFill>
                <a:latin typeface="Arial"/>
              </a:defRPr>
            </a:pPr>
            <a:r>
              <a:t>Sfida 1 · «Basta chiacchiere» (Il problema nei processi)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400">
                <a:solidFill>
                  <a:srgbClr val="E27100"/>
                </a:solidFill>
              </a:defRPr>
            </a:pPr>
            <a:r>
              <a:t>COSA SUCCEDE SENZA VINCOLI</a:t>
            </a:r>
          </a:p>
          <a:p>
            <a:pPr>
              <a:spcAft>
                <a:spcPts val="1000"/>
              </a:spcAft>
              <a:defRPr b="1" sz="1300">
                <a:solidFill>
                  <a:srgbClr val="17344D"/>
                </a:solidFill>
              </a:defRPr>
            </a:pPr>
            <a:r>
              <a:t>Se chiedi semplicemente:</a:t>
            </a:r>
            <a:br/>
            <a:r>
              <a:t>«Riassumimi cosa è successo alla macchina»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</a:defRPr>
            </a:pPr>
            <a:r>
              <a:t>✗ L'AI risponde con 3 lunghi paragrafi discorsivi.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</a:defRPr>
            </a:pPr>
            <a:r>
              <a:t>✗ Apre con convenevoli: «Certamente! Ecco un riassunto dettagliato del fermo...»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</a:defRPr>
            </a:pPr>
            <a:r>
              <a:t>✗ Chiude con formule di cortesia: «Spero sia utile, fammi sapere se serve altro!»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</a:defRPr>
            </a:pPr>
            <a:r>
              <a:t>✗ Mescola i dati importanti con frasi ovvie.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73736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400">
                <a:solidFill>
                  <a:srgbClr val="1064A0"/>
                </a:solidFill>
              </a:defRPr>
            </a:pPr>
            <a:r>
              <a:t>PERCHÉ È UN BLOCCO AZIENDALE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I gestionali (MES / ERP) non leggono la prosa: richiedono campi precisi.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Se un operatore deve leggere 10 righe per trovare 1 ricambio, perde tempo.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Il prompt deve agire come una maschera di acquisizione dati.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Obiettivo industriale: estrarre solo i dati grezzi in forma tabellare.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64A0"/>
                </a:solidFill>
                <a:latin typeface="Arial"/>
              </a:defRPr>
            </a:pPr>
            <a:r>
              <a:t>ATTIVITÀ PRATICA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7344D"/>
                </a:solidFill>
                <a:latin typeface="Arial"/>
              </a:defRPr>
            </a:pPr>
            <a:r>
              <a:t>Sfida 1 · Al lavoro a coppie (10 minuti)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6217920" cy="47548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1064A0"/>
                </a:solidFill>
              </a:defRPr>
            </a:pPr>
            <a:r>
              <a:t>CONSEGNA PER IL DRIVER (ALLA TASTIERA):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1. Tentativo libero: chiedi il riassunto con parole tue e osserva la risposta prolissa.</a:t>
            </a:r>
          </a:p>
          <a:p>
            <a:pPr>
              <a:spcAft>
                <a:spcPts val="600"/>
              </a:spcAft>
              <a:defRPr b="1" sz="1200">
                <a:solidFill>
                  <a:srgbClr val="17344D"/>
                </a:solidFill>
              </a:defRPr>
            </a:pPr>
            <a:r>
              <a:t>2. Tentativo con vincoli rigidi: invia questo prompt:</a:t>
            </a:r>
          </a:p>
          <a:p>
            <a:pPr>
              <a:defRPr sz="1100">
                <a:solidFill>
                  <a:srgbClr val="1064A0"/>
                </a:solidFill>
                <a:latin typeface="Consolas"/>
              </a:defRPr>
            </a:pPr>
            <a:r>
              <a:t>«Dal testo allegato estrai: Macchina, Causa fermo, Durata minuti, Codice ricambio.</a:t>
            </a:r>
            <a:br/>
            <a:r>
              <a:t>Rispondi SOLO con una tabella a 4 colonne.</a:t>
            </a:r>
            <a:br/>
            <a:r>
              <a:t>Vincolo rigido: nessun saluto, nessuna premessa, nessuna spiegazione prima o dopo la tabella.»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463040"/>
            <a:ext cx="4114800" cy="47548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0" y="1645920"/>
            <a:ext cx="356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E27100"/>
                </a:solidFill>
              </a:defRPr>
            </a:pPr>
            <a:r>
              <a:t>RUOLO COLLAUDATORE (VERIFICA):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Ci sono esattamente 4 colonne nella tabella?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I valori numerici (45 min, 78 °C, FLT-992) sono esatti?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L'AI ha scritto testo PRIMA della tabella?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L'AI ha scritto testo DOPO la tabella?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Se trovi testo superfluo, fallo correggere!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64A0"/>
                </a:solidFill>
                <a:latin typeface="Arial"/>
              </a:defRPr>
            </a:pPr>
            <a:r>
              <a:t>ITS MAKER · DIGITALIZZAZIONE PROCESSI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7344D"/>
                </a:solidFill>
                <a:latin typeface="Arial"/>
              </a:defRPr>
            </a:pPr>
            <a:r>
              <a:t>Sfida 1 · Debrief &amp; Regola 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29260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E27100"/>
                </a:solidFill>
              </a:defRPr>
            </a:pPr>
            <a:r>
              <a:t>SENZA VINCOLI NEGATIVI: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«Certamente! Ecco il riassunto dell'evento verificatosi il 14 ottobre sulla pressa P03. La macchina ha subito una sovratemperatura a 78 gradi... Spero ti sia utile!»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2926080"/>
          </a:xfrm>
          <a:prstGeom prst="roundRect">
            <a:avLst/>
          </a:prstGeom>
          <a:solidFill>
            <a:srgbClr val="182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45920"/>
            <a:ext cx="4663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7DD3FC"/>
                </a:solidFill>
              </a:defRPr>
            </a:pPr>
            <a:r>
              <a:t>CON VINCOLI RIGIDI (USCITA DI PROCESSO):</a:t>
            </a:r>
          </a:p>
          <a:p>
            <a:pPr>
              <a:defRPr sz="1200">
                <a:solidFill>
                  <a:srgbClr val="FFFFFF"/>
                </a:solidFill>
                <a:latin typeface="Consolas"/>
              </a:defRPr>
            </a:pPr>
            <a:r>
              <a:t>| Macchina | Causa       | Durata | Ricambio |</a:t>
            </a:r>
            <a:br/>
            <a:r>
              <a:t>| P03      | Sovratemp.  | 45 min | FLT-992  |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663440"/>
            <a:ext cx="10698480" cy="155448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46320"/>
            <a:ext cx="1014984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E27100"/>
                </a:solidFill>
                <a:latin typeface="Arial"/>
              </a:defRPr>
            </a:pPr>
            <a:r>
              <a:t>💡 REGOLA D'ORO 1:</a:t>
            </a:r>
          </a:p>
          <a:p>
            <a:pPr>
              <a:defRPr sz="1400" b="1">
                <a:solidFill>
                  <a:srgbClr val="92400E"/>
                </a:solidFill>
                <a:latin typeface="Arial"/>
              </a:defRPr>
            </a:pPr>
            <a:r>
              <a:t>Il prompt è una dima: se non fissi i confini e i vincoli negativi («nessun saluto, nessuna spiegazione»), l'AI riempie lo spazio con convenevoli inutilizzabili per un processo industriale.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64A0"/>
                </a:solidFill>
                <a:latin typeface="Arial"/>
              </a:defRPr>
            </a:pPr>
            <a:r>
              <a:t>ITS MAKER · DIGITALIZZAZIONE PROCESSI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7344D"/>
                </a:solidFill>
                <a:latin typeface="Arial"/>
              </a:defRPr>
            </a:pPr>
            <a:r>
              <a:t>Sfida 2 · «Un esempio vale 1000 parole» (Il problema)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49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400">
                <a:solidFill>
                  <a:srgbClr val="1064A0"/>
                </a:solidFill>
              </a:defRPr>
            </a:pPr>
            <a:r>
              <a:t>IL PROBLEMA: SPIEGARE LO STILE A PAROLE PORTA AL CAOS</a:t>
            </a:r>
          </a:p>
          <a:p>
            <a:pPr>
              <a:spcAft>
                <a:spcPts val="1400"/>
              </a:spcAft>
              <a:defRPr sz="1300">
                <a:solidFill>
                  <a:srgbClr val="1E293B"/>
                </a:solidFill>
              </a:defRPr>
            </a:pPr>
            <a:r>
              <a:t>Vogliamo registrare il fermo in una riga compatta per il gestionale di manutenzione.</a:t>
            </a:r>
            <a:br/>
            <a:r>
              <a:t>Se date solo l'istruzione: «Scrivi una riga breve, sintetica e tecnica per il registro», ogni coppia otterrà stili diversi: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Coppia 1:  «14/10/2026 - Pressa P03 ferma 45 min per guasto all'olio.»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Coppia 2:  «Fermo P03: temperatura 78C, ricambio filtro FLT-992.»</a:t>
            </a:r>
          </a:p>
          <a:p>
            <a:pPr>
              <a:spcAft>
                <a:spcPts val="800"/>
              </a:spcAft>
              <a:defRPr sz="1300">
                <a:solidFill>
                  <a:srgbClr val="1064A0"/>
                </a:solidFill>
              </a:defRPr>
            </a:pPr>
            <a:r>
              <a:t>Coppia 3:  «P03 (45 min) | ALLARME TEMPERATURA | Sostituito FLT-992»</a:t>
            </a:r>
          </a:p>
          <a:p>
            <a:pPr>
              <a:spcBef>
                <a:spcPts val="1000"/>
              </a:spcBef>
              <a:defRPr b="1" sz="1300">
                <a:solidFill>
                  <a:srgbClr val="17344D"/>
                </a:solidFill>
              </a:defRPr>
            </a:pPr>
            <a:r>
              <a:t>In azienda serve uniformità al 100%. Come si fa a imporre lo stile senza scrivere 20 righe di regole astratte?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64A0"/>
                </a:solidFill>
                <a:latin typeface="Arial"/>
              </a:defRPr>
            </a:pPr>
            <a:r>
              <a:t>ATTIVITÀ PRATICA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7344D"/>
                </a:solidFill>
                <a:latin typeface="Arial"/>
              </a:defRPr>
            </a:pPr>
            <a:r>
              <a:t>Sfida 2 · Al lavoro a coppie (10 minuti)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6217920" cy="47548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300">
                <a:solidFill>
                  <a:srgbClr val="1064A0"/>
                </a:solidFill>
              </a:defRPr>
            </a:pPr>
            <a:r>
              <a:t>CONSEGNA DRIVER (FEW-SHOT):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Riscrivete il prompt fornendo un solo esempio di riferimento:</a:t>
            </a:r>
          </a:p>
          <a:p>
            <a:pPr>
              <a:defRPr sz="1100">
                <a:solidFill>
                  <a:srgbClr val="1064A0"/>
                </a:solidFill>
                <a:latin typeface="Consolas"/>
              </a:defRPr>
            </a:pPr>
            <a:r>
              <a:t>«Crea una riga di registro manutenzione seguendo ESATTAMENTE lo stile di questo esempio:</a:t>
            </a:r>
            <a:br/>
            <a:br/>
            <a:r>
              <a:t>Esempio: [Linea 1] 20 min | BLOCCO NASTRO | RICAMBIO: CINGHIA-B12</a:t>
            </a:r>
            <a:br/>
            <a:br/>
            <a:r>
              <a:t>Ora genera la riga per il rapporto allegato della pressa P03.»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463040"/>
            <a:ext cx="4114800" cy="47548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0" y="1645920"/>
            <a:ext cx="356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E27100"/>
                </a:solidFill>
              </a:defRPr>
            </a:pPr>
            <a:r>
              <a:t>RUOLO COLLAUDATORE: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Ha usato le parentesi quadre [P03]?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Ha indicato i minuti (45 min)?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Ha usato le barre verticali | come separatore?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Ha scritto RICAMBIO: FLT-992 in maiuscolo?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Ha aggiunto testo extra non richiesto?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64A0"/>
                </a:solidFill>
                <a:latin typeface="Arial"/>
              </a:defRPr>
            </a:pPr>
            <a:r>
              <a:t>ITS MAKER · DIGITALIZZAZIONE PROCESSI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7344D"/>
                </a:solidFill>
                <a:latin typeface="Arial"/>
              </a:defRPr>
            </a:pPr>
            <a:r>
              <a:t>Sfida 2 · Debrief &amp; Regola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10149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400">
                <a:solidFill>
                  <a:srgbClr val="17344D"/>
                </a:solidFill>
              </a:defRPr>
            </a:pPr>
            <a:r>
              <a:t>PERCHÉ IL FEW-SHOT È SUPERIORE ALLE SPIEGAZIONI ASTRATTE?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Zero-Shot (solo spiegazione): «Usa le barre, sii conciso, metti il ricambio in maiuscolo...» → Il modello può perdersi qualche vincolo.</a:t>
            </a:r>
            <a:br/>
            <a:r>
              <a:t>• Few-Shot (con 1 esempio): l'AI riconosce il pattern visivo e sintattico e lo clona fedelmente al 100% al primo colpo.</a:t>
            </a:r>
          </a:p>
          <a:p>
            <a:pPr>
              <a:defRPr sz="1200" b="1">
                <a:solidFill>
                  <a:srgbClr val="1064A0"/>
                </a:solidFill>
                <a:latin typeface="Consolas"/>
              </a:defRPr>
            </a:pPr>
            <a:r>
              <a:t>Risultato ottenuto: [P03] 45 min | SOVRATEMPERATURA OLIO | RICAMBIO: FLT-992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663440"/>
            <a:ext cx="10698480" cy="155448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846320"/>
            <a:ext cx="1014984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E27100"/>
                </a:solidFill>
                <a:latin typeface="Arial"/>
              </a:defRPr>
            </a:pPr>
            <a:r>
              <a:t>💡 REGOLA D'ORO 2:</a:t>
            </a:r>
          </a:p>
          <a:p>
            <a:pPr>
              <a:defRPr sz="1400" b="1">
                <a:solidFill>
                  <a:srgbClr val="92400E"/>
                </a:solidFill>
                <a:latin typeface="Arial"/>
              </a:defRPr>
            </a:pPr>
            <a:r>
              <a:t>Non perdere tempo a spiegare lo stile a parole: mostra all'AI 1 o 2 esempi pratici di input/output. Gli LLM apprendono e si standardizzano per imitazione di pattern.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64A0"/>
                </a:solidFill>
                <a:latin typeface="Arial"/>
              </a:defRPr>
            </a:pPr>
            <a:r>
              <a:t>ITS MAKER · DIGITALIZZAZIONE PROCESSI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7344D"/>
                </a:solidFill>
                <a:latin typeface="Arial"/>
              </a:defRPr>
            </a:pPr>
            <a:r>
              <a:t>Sfida 3 · «La calcolatrice che sbaglia» (Il problema)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400">
                <a:solidFill>
                  <a:srgbClr val="E27100"/>
                </a:solidFill>
              </a:defRPr>
            </a:pPr>
            <a:r>
              <a:t>L'ILLUSIONE DELLA CALCOLATRICE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Un LLM non è una calcolatrice: non fa operazioni logiche su registri di memoria.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Un LLM predice la parola (o il numero) più probabile.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Se chiedi un calcolo con una risposta secca, l'AI tenta di 'indovinare' il totale.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Sui calcoli con unità di misura (es. minuti vs ore) l'errore è dietro l'angolo.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73736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400">
                <a:solidFill>
                  <a:srgbClr val="1064A0"/>
                </a:solidFill>
              </a:defRPr>
            </a:pPr>
            <a:r>
              <a:t>IL CASO D'OFFICINA</a:t>
            </a:r>
          </a:p>
          <a:p>
            <a:pPr>
              <a:spcAft>
                <a:spcPts val="600"/>
              </a:spcAft>
              <a:defRPr sz="1300" b="0">
                <a:solidFill>
                  <a:srgbClr val="1E293B"/>
                </a:solidFill>
              </a:defRPr>
            </a:pPr>
            <a:r>
              <a:t>• Tariffa oraria di fermo linea: 160 € / ora.</a:t>
            </a:r>
          </a:p>
          <a:p>
            <a:pPr>
              <a:spcAft>
                <a:spcPts val="600"/>
              </a:spcAft>
              <a:defRPr sz="1300" b="0">
                <a:solidFill>
                  <a:srgbClr val="1E293B"/>
                </a:solidFill>
              </a:defRPr>
            </a:pPr>
            <a:r>
              <a:t>• Durata del fermo registrata: 45 minuti.</a:t>
            </a:r>
          </a:p>
          <a:p>
            <a:pPr>
              <a:spcAft>
                <a:spcPts val="600"/>
              </a:spcAft>
              <a:defRPr sz="1300" b="0">
                <a:solidFill>
                  <a:srgbClr val="1E293B"/>
                </a:solidFill>
              </a:defRPr>
            </a:pPr>
            <a:r>
              <a:t>• Quanto è costato il fermo all'azienda?</a:t>
            </a:r>
          </a:p>
          <a:p>
            <a:pPr>
              <a:spcAft>
                <a:spcPts val="600"/>
              </a:spcAft>
              <a:defRPr sz="1300" b="0">
                <a:solidFill>
                  <a:srgbClr val="1E293B"/>
                </a:solidFill>
              </a:defRPr>
            </a:pPr>
            <a:r>
              <a:t>• Trappola mentale: 45 minuti NON sono 0,45 ore!</a:t>
            </a:r>
          </a:p>
          <a:p>
            <a:pPr>
              <a:spcAft>
                <a:spcPts val="600"/>
              </a:spcAft>
              <a:defRPr sz="1300" b="0">
                <a:solidFill>
                  <a:srgbClr val="1E293B"/>
                </a:solidFill>
              </a:defRPr>
            </a:pPr>
            <a:r>
              <a:t>• 45 minuti = 0,75 ore (45 / 60).</a:t>
            </a:r>
          </a:p>
          <a:p>
            <a:pPr>
              <a:spcAft>
                <a:spcPts val="600"/>
              </a:spcAft>
              <a:defRPr sz="1300" b="1">
                <a:solidFill>
                  <a:srgbClr val="17344D"/>
                </a:solidFill>
              </a:defRPr>
            </a:pPr>
            <a:r>
              <a:t>• Calcolo esatto: 0,75 × 160 € = 120 € esatti.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64A0"/>
                </a:solidFill>
                <a:latin typeface="Arial"/>
              </a:defRPr>
            </a:pPr>
            <a:r>
              <a:t>ATTIVITÀ PRATICA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7344D"/>
                </a:solidFill>
                <a:latin typeface="Arial"/>
              </a:defRPr>
            </a:pPr>
            <a:r>
              <a:t>Sfida 3 · Al lavoro a coppie (10 minuti)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6217920" cy="47548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1064A0"/>
                </a:solidFill>
              </a:defRPr>
            </a:pPr>
            <a:r>
              <a:t>DUE TEST DA CONFRONTARE:</a:t>
            </a:r>
          </a:p>
          <a:p>
            <a:pPr>
              <a:defRPr b="1" sz="1200">
                <a:solidFill>
                  <a:srgbClr val="E27100"/>
                </a:solidFill>
              </a:defRPr>
            </a:pPr>
            <a:r>
              <a:t>Test A (Risposta secca):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  <a:latin typeface="Consolas"/>
              </a:defRPr>
            </a:pPr>
            <a:r>
              <a:t>«Il costo di fermo è 160 €/ora. Dal testo calcola il costo del fermo della P03. Rispondi subito solo con la cifra finale in euro.»</a:t>
            </a:r>
          </a:p>
          <a:p>
            <a:pPr>
              <a:defRPr b="1" sz="1200">
                <a:solidFill>
                  <a:srgbClr val="1A9C8C"/>
                </a:solidFill>
              </a:defRPr>
            </a:pPr>
            <a:r>
              <a:t>Test B (Passaggi forzati - Chain of Thought):</a:t>
            </a:r>
          </a:p>
          <a:p>
            <a:pPr>
              <a:defRPr sz="1000">
                <a:solidFill>
                  <a:srgbClr val="1064A0"/>
                </a:solidFill>
                <a:latin typeface="Consolas"/>
              </a:defRPr>
            </a:pPr>
            <a:r>
              <a:t>«Calcola il costo del fermo spiegando prima i passaggi intermedi:</a:t>
            </a:r>
            <a:br/>
            <a:r>
              <a:t>Passo 1: Minuti totali di fermo estratti dal testo.</a:t>
            </a:r>
            <a:br/>
            <a:r>
              <a:t>Passo 2: Conversione minuti in ore decimali (minuti / 60).</a:t>
            </a:r>
            <a:br/>
            <a:r>
              <a:t>Passo 3: Moltiplicazione ore per tariffa (160 €/ora).</a:t>
            </a:r>
            <a:br/>
            <a:r>
              <a:t>Passo 4: Scrivi il totale finale in euro.»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463040"/>
            <a:ext cx="4114800" cy="47548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0" y="1645920"/>
            <a:ext cx="356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E27100"/>
                </a:solidFill>
              </a:defRPr>
            </a:pPr>
            <a:r>
              <a:t>RUOLO COLLAUDATORE: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Nel Test A il modello ha sparato un numero a caso?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Ha considerato 45 min = 0,45 ore?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Nel Test B la conversione 45/60 = 0,75 è esplicitata?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Verifica con la calcolatrice del telefono: 0,75 × 160 = 120?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I passaggi intermedi rendono l'errore visibile!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64A0"/>
                </a:solidFill>
                <a:latin typeface="Arial"/>
              </a:defRPr>
            </a:pPr>
            <a:r>
              <a:t>ITS MAKER · DIGITALIZZAZIONE PROCESSI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7344D"/>
                </a:solidFill>
                <a:latin typeface="Arial"/>
              </a:defRPr>
            </a:pPr>
            <a:r>
              <a:t>Sfida 3 · Debrief &amp; Regola 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10149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400">
                <a:solidFill>
                  <a:srgbClr val="17344D"/>
                </a:solidFill>
              </a:defRPr>
            </a:pPr>
            <a:r>
              <a:t>COME «PENSA» UN MODELLO DI LINGUAGGIO?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• L'AI non ha una memoria interna nascosta per fare i conti prima di parlare.</a:t>
            </a:r>
            <a:br/>
            <a:r>
              <a:t>• L'AI 'pensa con i token che scrive' a schermo!</a:t>
            </a:r>
            <a:br/>
            <a:r>
              <a:t>• Se le impedisci di scrivere i passaggi, la costringi a tirare a indovinare il risultato finale.</a:t>
            </a:r>
            <a:br/>
            <a:r>
              <a:t>• Scrivere '45 / 60 = 0,75' genera i token necessari per calcolare correttamente '0,75 * 160 = 120'.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663440"/>
            <a:ext cx="10698480" cy="155448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846320"/>
            <a:ext cx="1014984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E27100"/>
                </a:solidFill>
                <a:latin typeface="Arial"/>
              </a:defRPr>
            </a:pPr>
            <a:r>
              <a:t>💡 REGOLA D'ORO 3:</a:t>
            </a:r>
          </a:p>
          <a:p>
            <a:pPr>
              <a:defRPr sz="1400" b="1">
                <a:solidFill>
                  <a:srgbClr val="92400E"/>
                </a:solidFill>
                <a:latin typeface="Arial"/>
              </a:defRPr>
            </a:pPr>
            <a:r>
              <a:t>Per calcoli, formule o logiche con eccezioni, chiedi sempre all'AI di scrivere i passaggi intermedi (Chain-of-Thought). La visibilità del ragionamento garantisce la controllabilità umana del processo.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64A0"/>
                </a:solidFill>
                <a:latin typeface="Arial"/>
              </a:defRPr>
            </a:pPr>
            <a:r>
              <a:t>ITS MAKER · DIGITALIZZAZIONE PROCESSI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7344D"/>
                </a:solidFill>
                <a:latin typeface="Arial"/>
              </a:defRPr>
            </a:pPr>
            <a:r>
              <a:t>Sfida 4 · «Il test del trabocchetto» (Il problema)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400">
                <a:solidFill>
                  <a:srgbClr val="E27100"/>
                </a:solidFill>
              </a:defRPr>
            </a:pPr>
            <a:r>
              <a:t>LA TRAPPOLA DELL'ALLUCINAZIONE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✗ Gli LLM sono addestrati per essere collaborativi e rispondere sempre.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✗ Quando un dato non c'è, provano a indovinare cosa sarebbe 'plausibile'.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✗ Rispondono con sicurezza totale anche quando dicono falsità integrali.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✗ In un contesto informale non fa danni; in fabbrica è inaccettabile.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73736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400">
                <a:solidFill>
                  <a:srgbClr val="1064A0"/>
                </a:solidFill>
              </a:defRPr>
            </a:pPr>
            <a:r>
              <a:t>I RISCHI IN AMBIENTE INDUSTRIALE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Un codice ricambio inventato genera ordini errati a fornitore.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Un valore di soglia inventato rischia di rompere la macchina.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Una procedura di sicurezza inventata mette a rischio l'operatore.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Regola industriale: meglio un 'Non lo so' immediato che una risposta falsa plausibile.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64A0"/>
                </a:solidFill>
                <a:latin typeface="Arial"/>
              </a:defRPr>
            </a:pPr>
            <a:r>
              <a:t>ATTIVITÀ PRATICA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7344D"/>
                </a:solidFill>
                <a:latin typeface="Arial"/>
              </a:defRPr>
            </a:pPr>
            <a:r>
              <a:t>Sfida 4 · Al lavoro a coppie (10 minuti)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6217920" cy="47548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E27100"/>
                </a:solidFill>
              </a:defRPr>
            </a:pPr>
            <a:r>
              <a:t>IL TRABOCCHETTO: IL NOME DELL'OPERATORE NON C'È!</a:t>
            </a:r>
          </a:p>
          <a:p>
            <a:pPr>
              <a:defRPr b="1" sz="1200">
                <a:solidFill>
                  <a:srgbClr val="17344D"/>
                </a:solidFill>
              </a:defRPr>
            </a:pPr>
            <a:r>
              <a:t>1. Domanda ingenua (senza paracadute):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Consolas"/>
              </a:defRPr>
            </a:pPr>
            <a:r>
              <a:t>«Chi è l'operatore che ha effettuato la sostituzione del filtro della P03?»</a:t>
            </a:r>
          </a:p>
          <a:p>
            <a:pPr>
              <a:defRPr b="1" sz="1200">
                <a:solidFill>
                  <a:srgbClr val="1064A0"/>
                </a:solidFill>
              </a:defRPr>
            </a:pPr>
            <a:r>
              <a:t>2. Domanda blindata (con clausola di astensione):</a:t>
            </a:r>
          </a:p>
          <a:p>
            <a:pPr>
              <a:defRPr sz="1000">
                <a:solidFill>
                  <a:srgbClr val="1064A0"/>
                </a:solidFill>
                <a:latin typeface="Consolas"/>
              </a:defRPr>
            </a:pPr>
            <a:r>
              <a:t>«Chi è l'operatore che ha effettuato l'intervento?</a:t>
            </a:r>
            <a:br/>
            <a:r>
              <a:t>Regola tassativa: rispondi basandoti ESCLUSIVAMENTE sulle informazioni scritte nel testo.</a:t>
            </a:r>
            <a:br/>
            <a:r>
              <a:t>Se l'informazione non è presente o non è certa, rispondi testualmente con: 'DATO NON PRESENTE'. Non inventare nulla.»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463040"/>
            <a:ext cx="4114800" cy="47548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0" y="1645920"/>
            <a:ext cx="356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E27100"/>
                </a:solidFill>
              </a:defRPr>
            </a:pPr>
            <a:r>
              <a:t>RUOLO COLLAUDATORE: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Nel test 1 ha provato a ipotizzare ('il tecnico della manutenzione...')?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Nel test 1 ha inventato un nome proprio?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Nel test 2 ha risposto esattamente 'DATO NON PRESENTE'?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Ha aggiunto scuse o premesse?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☐ Se si è astenuta senza inventare, il test è SUPERATO!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64A0"/>
                </a:solidFill>
                <a:latin typeface="Arial"/>
              </a:defRPr>
            </a:pPr>
            <a:r>
              <a:t>ITS MAKER · DIGITALIZZAZIONE PROCESSI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7344D"/>
                </a:solidFill>
                <a:latin typeface="Arial"/>
              </a:defRPr>
            </a:pPr>
            <a:r>
              <a:t>Sfida 4 · Debrief &amp; Regola 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10149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400">
                <a:solidFill>
                  <a:srgbClr val="17344D"/>
                </a:solidFill>
              </a:defRPr>
            </a:pPr>
            <a:r>
              <a:t>IL PARACADUTE DELLA VERIFICA AZIENDALE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• L'AI non sa cosa 'non sa' finché non glielo chiedi esplicitamente.</a:t>
            </a:r>
            <a:br/>
            <a:r>
              <a:t>• Se la lasci libera, tenterà di compiacerti formulando un'ipotesi plausibile.</a:t>
            </a:r>
            <a:br/>
            <a:r>
              <a:t>• Inserire la clausola di astensione («Se non presente, scrivi DATO NON PRESENTE») crea un paracadute formale.</a:t>
            </a:r>
            <a:br/>
            <a:r>
              <a:t>• In fabbrica un assistente AI deve avere il coraggio di dire 'non lo so' per essere affidabile.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663440"/>
            <a:ext cx="10698480" cy="155448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846320"/>
            <a:ext cx="1014984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E27100"/>
                </a:solidFill>
                <a:latin typeface="Arial"/>
              </a:defRPr>
            </a:pPr>
            <a:r>
              <a:t>💡 REGOLA D'ORO 4:</a:t>
            </a:r>
          </a:p>
          <a:p>
            <a:pPr>
              <a:defRPr sz="1400" b="1">
                <a:solidFill>
                  <a:srgbClr val="92400E"/>
                </a:solidFill>
                <a:latin typeface="Arial"/>
              </a:defRPr>
            </a:pPr>
            <a:r>
              <a:t>In azienda un'invenzione plausibile fa danni gravi. Bisogna sempre autorizzare formalmente l'AI ad astenersi («Se l'informazione non è scritta nel testo, rispondi DATO NON PRESENTE»).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64A0"/>
                </a:solidFill>
                <a:latin typeface="Arial"/>
              </a:defRPr>
            </a:pPr>
            <a:r>
              <a:t>ITS MAKER · DIGITALIZZAZIONE PROCESSI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7344D"/>
                </a:solidFill>
                <a:latin typeface="Arial"/>
              </a:defRPr>
            </a:pPr>
            <a:r>
              <a:t>Il ponte verso Unsloth Studio e i Documenti (RAG)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6984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840480"/>
                <a:gridCol w="3931920"/>
              </a:tblGrid>
              <a:tr h="768096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Oggi nel prompt</a:t>
                      </a:r>
                    </a:p>
                  </a:txBody>
                  <a:tcPr>
                    <a:solidFill>
                      <a:srgbClr val="1734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Nel processo aziendale</a:t>
                      </a:r>
                    </a:p>
                  </a:txBody>
                  <a:tcPr>
                    <a:solidFill>
                      <a:srgbClr val="1734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Con Unsloth Studio e RAG</a:t>
                      </a:r>
                    </a:p>
                  </a:txBody>
                  <a:tcPr>
                    <a:solidFill>
                      <a:srgbClr val="17344D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Tabelle e vincoli negativi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Dati puliti per MES / ERP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Estrazione automatica nei campi database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Few-shot con 1 esempio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Standardizzazione bollettini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Classificazione automatica cartellini guasto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Passaggi intermedi (CoT)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Controllo qualità e tempi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Verifica incrociata tra formule e registri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Clausola di astensione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Sicurezza e zero allucinazioni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Risposte affidabili basate solo sui manuali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20" y="5486400"/>
            <a:ext cx="10698480" cy="822960"/>
          </a:xfrm>
          <a:prstGeom prst="roundRect">
            <a:avLst/>
          </a:prstGeom>
          <a:solidFill>
            <a:srgbClr val="182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53212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7DD3FC"/>
                </a:solidFill>
              </a:defRPr>
            </a:pPr>
            <a:r>
              <a:t>PROSSIMO PASSO: E quando i documenti sono manuali di 100 pagine? Collegheremo l'AI all'archivio con Unsloth Studio!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64A0"/>
                </a:solidFill>
                <a:latin typeface="Arial"/>
              </a:defRPr>
            </a:pPr>
            <a:r>
              <a:t>ITS MAKER · DIGITALIZZAZIONE PROCESSI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7344D"/>
                </a:solidFill>
                <a:latin typeface="Arial"/>
              </a:defRPr>
            </a:pPr>
            <a:r>
              <a:t>Riepilogo finale: cosa sappiamo fare da oggi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402336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10149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400">
                <a:solidFill>
                  <a:srgbClr val="1064A0"/>
                </a:solidFill>
              </a:defRPr>
            </a:pPr>
            <a:r>
              <a:t>LE 4 COMPETENZE OPERATIVE ACQUISITE OGGI: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1. Eliminare i convenevoli: usare vincoli negativi per ottenere solo tabelle e dati utili al gestionale.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2. Guidare con l'esempio: usare il Few-Shot per fissare lo stile senza scrivere pagine di spiegazioni astratte.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3. Verificare i calcoli: forzare i passaggi intermedi (Chain-of-Thought) per non far tirare a indovinare i numeri.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4. Blindare dall'allucinazione: dare sempre il permesso formale di dire 'DATO NON PRESENTE'.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577840"/>
            <a:ext cx="10698480" cy="822960"/>
          </a:xfrm>
          <a:prstGeom prst="roundRect">
            <a:avLst/>
          </a:prstGeom>
          <a:solidFill>
            <a:srgbClr val="17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6235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Alla macchina il volume e l'esecuzione. Alla persona il controllo e la responsabilità.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