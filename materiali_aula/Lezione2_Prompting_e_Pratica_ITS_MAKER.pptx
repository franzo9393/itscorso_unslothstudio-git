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7620000"/>
  <p:notesSz cx="7620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4CCD0568-0264-2377-25D1-58D120249265}">
          <p14:sldIdLst>
            <p14:sldId id="256"/>
            <p14:sldId id="257"/>
            <p14:sldId id="258"/>
          </p14:sldIdLst>
        </p14:section>
        <p14:section name="Digitalizzare un processo" id="{878B3D7C-64F0-58C9-07F3-52FCCD6E6EB1}">
          <p14:sldIdLst>
            <p14:sldId id="259"/>
            <p14:sldId id="260"/>
            <p14:sldId id="261"/>
            <p14:sldId id="262"/>
            <p14:sldId id="263"/>
          </p14:sldIdLst>
        </p14:section>
        <p14:section name="Uomo o macchina?" id="{B44EFE08-53DB-407B-45F2-98EE1A2C7ECD}">
          <p14:sldIdLst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Gli LLM" id="{044C1279-1819-91CA-97F5-27AF6CED767D}">
          <p14:sldIdLst>
            <p14:sldId id="270"/>
            <p14:sldId id="271"/>
            <p14:sldId id="272"/>
            <p14:sldId id="273"/>
            <p14:sldId id="274"/>
          </p14:sldIdLst>
        </p14:section>
        <p14:section name="Architetture" id="{BCE5A2DE-635F-3714-F95D-4F343FCA72C4}">
          <p14:sldIdLst>
            <p14:sldId id="275"/>
            <p14:sldId id="276"/>
            <p14:sldId id="277"/>
            <p14:sldId id="278"/>
            <p14:sldId id="279"/>
          </p14:sldIdLst>
        </p14:section>
        <p14:section name="RAG" id="{B7BC7141-CDC7-8D3E-391E-1A26BCAFBD29}">
          <p14:sldIdLst>
            <p14:sldId id="280"/>
            <p14:sldId id="281"/>
            <p14:sldId id="282"/>
            <p14:sldId id="283"/>
            <p14:sldId id="284"/>
          </p14:sldIdLst>
        </p14:section>
        <p14:section name="Token e parametri" id="{A1F2687F-21EE-34B2-E996-1053CE68D2C6}">
          <p14:sldIdLst>
            <p14:sldId id="285"/>
            <p14:sldId id="286"/>
            <p14:sldId id="287"/>
            <p14:sldId id="288"/>
            <p14:sldId id="289"/>
          </p14:sldIdLst>
        </p14:section>
        <p14:section name="Prompting" id="{9F8BEFD9-49C5-EBA1-B004-BCC0FCBA719C}">
          <p14:sldIdLst>
            <p14:sldId id="290"/>
            <p14:sldId id="291"/>
            <p14:sldId id="292"/>
            <p14:sldId id="293"/>
            <p14:sldId id="294"/>
          </p14:sldIdLst>
        </p14:section>
        <p14:section name="Chiusura" id="{CB96B4A7-3DCD-29F7-E607-8538567A9FE4}">
          <p14:sldIdLst>
            <p14:sldId id="295"/>
            <p14:sldId id="29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5160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PERTIN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92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Loghi istituzionali: Unione europea NextGenerationEU, Ministero dell'Istruzione e del Merito, Italiadomani, Futur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10312"/>
            <a:ext cx="11365992" cy="5394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126187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ITS MAKER ACADEMY · BOLOGNA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94360" y="1645920"/>
            <a:ext cx="841248" cy="41148"/>
          </a:xfrm>
          <a:prstGeom prst="rect">
            <a:avLst/>
          </a:prstGeom>
          <a:solidFill>
            <a:srgbClr val="F5820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>
            <a:spLocks noGrp="1"/>
          </p:cNvSpPr>
          <p:nvPr>
            <p:ph type="title" idx="104" hasCustomPrompt="1"/>
          </p:nvPr>
        </p:nvSpPr>
        <p:spPr>
          <a:xfrm>
            <a:off x="594360" y="1828800"/>
            <a:ext cx="10972800" cy="13258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900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en-US" sz="3900" dirty="0"/>
          </a:p>
        </p:txBody>
      </p:sp>
      <p:sp>
        <p:nvSpPr>
          <p:cNvPr id="7" name="Text 3"/>
          <p:cNvSpPr>
            <a:spLocks noGrp="1"/>
          </p:cNvSpPr>
          <p:nvPr>
            <p:ph type="body" idx="105" hasCustomPrompt="1"/>
          </p:nvPr>
        </p:nvSpPr>
        <p:spPr>
          <a:xfrm>
            <a:off x="594360" y="3291840"/>
            <a:ext cx="109728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9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1900" dirty="0"/>
          </a:p>
        </p:txBody>
      </p:sp>
      <p:sp>
        <p:nvSpPr>
          <p:cNvPr id="8" name="Text 3"/>
          <p:cNvSpPr>
            <a:spLocks noGrp="1"/>
          </p:cNvSpPr>
          <p:nvPr>
            <p:ph type="body" idx="106" hasCustomPrompt="1"/>
          </p:nvPr>
        </p:nvSpPr>
        <p:spPr>
          <a:xfrm>
            <a:off x="594360" y="3886200"/>
            <a:ext cx="1088136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  <p:pic>
        <p:nvPicPr>
          <p:cNvPr id="9" name="Image 1" descr="Logo ITS MAKER Academ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6053328"/>
            <a:ext cx="1636776" cy="1106424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594360" y="727862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WWW.ITSMAKER.IT</a:t>
            </a:r>
            <a:endParaRPr lang="en-US" sz="1000" dirty="0"/>
          </a:p>
        </p:txBody>
      </p:sp>
      <p:sp>
        <p:nvSpPr>
          <p:cNvPr id="11" name="Text 4"/>
          <p:cNvSpPr/>
          <p:nvPr/>
        </p:nvSpPr>
        <p:spPr>
          <a:xfrm>
            <a:off x="6675120" y="6601968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tx2"/>
                </a:solidFill>
              </a:rPr>
              <a:t>MECCANICA, MECCATRONICA,</a:t>
            </a:r>
            <a:endParaRPr lang="en-US" sz="1000" dirty="0"/>
          </a:p>
          <a:p>
            <a:pPr marL="0" indent="0" algn="r">
              <a:buNone/>
            </a:pPr>
            <a:r>
              <a:rPr lang="en-US" sz="1000" dirty="0">
                <a:solidFill>
                  <a:schemeClr val="tx2"/>
                </a:solidFill>
              </a:rPr>
              <a:t>MOTORISTICA E PACKAGING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6517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ITS MAKER ACADEMY · BOLOGNA</a:t>
            </a:r>
            <a:endParaRPr lang="en-US" sz="900" dirty="0"/>
          </a:p>
        </p:txBody>
      </p:sp>
      <p:pic>
        <p:nvPicPr>
          <p:cNvPr id="3" name="Image 0" descr="Logo ITS MAKER Academ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2" y="228600"/>
            <a:ext cx="905256" cy="611734"/>
          </a:xfrm>
          <a:prstGeom prst="rect">
            <a:avLst/>
          </a:prstGeom>
        </p:spPr>
      </p:pic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594360" y="566928"/>
            <a:ext cx="96469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5" name="Shape 1"/>
          <p:cNvSpPr/>
          <p:nvPr/>
        </p:nvSpPr>
        <p:spPr>
          <a:xfrm>
            <a:off x="594360" y="1645920"/>
            <a:ext cx="11000232" cy="12802"/>
          </a:xfrm>
          <a:prstGeom prst="rect">
            <a:avLst/>
          </a:prstGeom>
          <a:solidFill>
            <a:srgbClr val="9AAFC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2"/>
          <p:cNvSpPr/>
          <p:nvPr/>
        </p:nvSpPr>
        <p:spPr>
          <a:xfrm>
            <a:off x="594360" y="1625803"/>
            <a:ext cx="841248" cy="47549"/>
          </a:xfrm>
          <a:prstGeom prst="rect">
            <a:avLst/>
          </a:prstGeom>
          <a:solidFill>
            <a:srgbClr val="F5820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Shape 3"/>
          <p:cNvSpPr/>
          <p:nvPr/>
        </p:nvSpPr>
        <p:spPr>
          <a:xfrm>
            <a:off x="594360" y="7141464"/>
            <a:ext cx="11000232" cy="8230"/>
          </a:xfrm>
          <a:prstGeom prst="rect">
            <a:avLst/>
          </a:prstGeom>
          <a:solidFill>
            <a:srgbClr val="9AAFC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4"/>
          <p:cNvSpPr/>
          <p:nvPr/>
        </p:nvSpPr>
        <p:spPr>
          <a:xfrm>
            <a:off x="594360" y="7287768"/>
            <a:ext cx="9052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1"/>
                </a:solidFill>
              </a:rPr>
              <a:t>ITS MAKER ACADEMY · BOLOGNA  |  UNSLOTH STUDIO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7269480"/>
            <a:ext cx="9418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ZION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269480" cy="76200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94360" y="5486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ITS MAKER ACADEMY · BOLOGNA</a:t>
            </a:r>
            <a:endParaRPr lang="en-US" sz="1300" dirty="0"/>
          </a:p>
        </p:txBody>
      </p:sp>
      <p:sp>
        <p:nvSpPr>
          <p:cNvPr id="4" name="Text 2"/>
          <p:cNvSpPr>
            <a:spLocks noGrp="1"/>
          </p:cNvSpPr>
          <p:nvPr>
            <p:ph type="body" idx="102" hasCustomPrompt="1"/>
          </p:nvPr>
        </p:nvSpPr>
        <p:spPr>
          <a:xfrm>
            <a:off x="594360" y="1234440"/>
            <a:ext cx="3657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8000" b="1" dirty="0">
                <a:solidFill>
                  <a:srgbClr val="F5820B"/>
                </a:solidFill>
              </a:defRPr>
            </a:lvl1pPr>
          </a:lstStyle>
          <a:p>
            <a:pPr marL="0" indent="0" algn="l">
              <a:buNone/>
            </a:pPr>
            <a:endParaRPr lang="en-US" sz="8000" dirty="0"/>
          </a:p>
        </p:txBody>
      </p:sp>
      <p:sp>
        <p:nvSpPr>
          <p:cNvPr id="5" name="Text 2"/>
          <p:cNvSpPr>
            <a:spLocks noGrp="1"/>
          </p:cNvSpPr>
          <p:nvPr>
            <p:ph type="title" idx="103" hasCustomPrompt="1"/>
          </p:nvPr>
        </p:nvSpPr>
        <p:spPr>
          <a:xfrm>
            <a:off x="594360" y="2697480"/>
            <a:ext cx="6400800" cy="13258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9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900" dirty="0"/>
          </a:p>
        </p:txBody>
      </p:sp>
      <p:sp>
        <p:nvSpPr>
          <p:cNvPr id="6" name="Shape 2"/>
          <p:cNvSpPr/>
          <p:nvPr/>
        </p:nvSpPr>
        <p:spPr>
          <a:xfrm>
            <a:off x="594360" y="4160520"/>
            <a:ext cx="841248" cy="41148"/>
          </a:xfrm>
          <a:prstGeom prst="rect">
            <a:avLst/>
          </a:prstGeom>
          <a:solidFill>
            <a:srgbClr val="F5820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3"/>
          <p:cNvSpPr>
            <a:spLocks noGrp="1"/>
          </p:cNvSpPr>
          <p:nvPr>
            <p:ph type="body" idx="105" hasCustomPrompt="1"/>
          </p:nvPr>
        </p:nvSpPr>
        <p:spPr>
          <a:xfrm>
            <a:off x="594360" y="4343400"/>
            <a:ext cx="63093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300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2300" dirty="0"/>
          </a:p>
        </p:txBody>
      </p:sp>
      <p:sp>
        <p:nvSpPr>
          <p:cNvPr id="8" name="Text 3"/>
          <p:cNvSpPr/>
          <p:nvPr/>
        </p:nvSpPr>
        <p:spPr>
          <a:xfrm>
            <a:off x="594360" y="68305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ITS MAKER ACADEMY · BOLOGNA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7269480"/>
            <a:ext cx="9418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IUSUR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269480" cy="76200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94360" y="5486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ITS MAKER ACADEMY · BOLOGNA</a:t>
            </a:r>
            <a:endParaRPr lang="en-US" sz="13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594360" y="2011680"/>
            <a:ext cx="64922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9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900" dirty="0"/>
          </a:p>
        </p:txBody>
      </p:sp>
      <p:sp>
        <p:nvSpPr>
          <p:cNvPr id="5" name="Shape 2"/>
          <p:cNvSpPr/>
          <p:nvPr/>
        </p:nvSpPr>
        <p:spPr>
          <a:xfrm>
            <a:off x="594360" y="3639312"/>
            <a:ext cx="841248" cy="41148"/>
          </a:xfrm>
          <a:prstGeom prst="rect">
            <a:avLst/>
          </a:prstGeom>
          <a:solidFill>
            <a:srgbClr val="F5820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>
            <a:spLocks noGrp="1"/>
          </p:cNvSpPr>
          <p:nvPr>
            <p:ph type="body" idx="104" hasCustomPrompt="1"/>
          </p:nvPr>
        </p:nvSpPr>
        <p:spPr>
          <a:xfrm>
            <a:off x="594360" y="3840480"/>
            <a:ext cx="63093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300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2300" dirty="0"/>
          </a:p>
        </p:txBody>
      </p:sp>
      <p:sp>
        <p:nvSpPr>
          <p:cNvPr id="7" name="Text 3"/>
          <p:cNvSpPr/>
          <p:nvPr/>
        </p:nvSpPr>
        <p:spPr>
          <a:xfrm>
            <a:off x="594360" y="68305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ITS MAKER ACADEMY · BOLOGNA</a:t>
            </a:r>
            <a:endParaRPr lang="en-US" sz="1200" dirty="0"/>
          </a:p>
        </p:txBody>
      </p:sp>
      <p:pic>
        <p:nvPicPr>
          <p:cNvPr id="8" name="Image 0" descr="Logo ITS MAKER Academ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2587752"/>
            <a:ext cx="3520440" cy="23774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229600" y="54681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accent1"/>
                </a:solidFill>
              </a:rPr>
              <a:t>WWW.ITSMAKER.IT</a:t>
            </a:r>
            <a:endParaRPr lang="en-US" sz="17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7269480"/>
            <a:ext cx="9418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4"/>
          </p:nvPr>
        </p:nvSpPr>
        <p:spPr/>
        <p:txBody>
          <a:bodyPr/>
          <a:lstStyle/>
          <a:p>
            <a:r>
              <a:t>Digitalizzare i processi con l'Intelligenza Artificiale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Lezione 2 · Tecniche di prompting: trasformare testo grezzo in dati strutturati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6"/>
          </p:nvPr>
        </p:nvSpPr>
        <p:spPr/>
        <p:txBody>
          <a:bodyPr/>
          <a:lstStyle/>
          <a:p>
            <a:r>
              <a:t>Corso di Intelligenza Artificiale · Anno formativo 2026/27 · ITS MAKER Bologna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Il piano di oggi: la regola del «10 – 10 – 5»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920240"/>
            <a:ext cx="3474720" cy="310896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05740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064A0"/>
                </a:solidFill>
              </a:defRPr>
            </a:pPr>
            <a:r>
              <a:t>1. Micro-lezione (5-7 min)</a:t>
            </a:r>
          </a:p>
          <a:p>
            <a:pPr>
              <a:spcAft>
                <a:spcPts val="1000"/>
              </a:spcAft>
              <a:defRPr sz="1300" b="1">
                <a:solidFill>
                  <a:srgbClr val="17344D"/>
                </a:solidFill>
              </a:defRPr>
            </a:pPr>
            <a:r>
              <a:t>Un problema di processo per volta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Vediamo a video il limite naturale dell'AI e capiamo dove rischia di sbagliare.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920240"/>
            <a:ext cx="3474720" cy="310896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26280" y="205740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E27100"/>
                </a:solidFill>
              </a:defRPr>
            </a:pPr>
            <a:r>
              <a:t>2. Sfida a coppie (10-12 min)</a:t>
            </a:r>
          </a:p>
          <a:p>
            <a:pPr>
              <a:spcAft>
                <a:spcPts val="1000"/>
              </a:spcAft>
              <a:defRPr sz="1300" b="1">
                <a:solidFill>
                  <a:srgbClr val="17344D"/>
                </a:solidFill>
              </a:defRPr>
            </a:pPr>
            <a:r>
              <a:t>Lavoro hands-on al computer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Ruoli alternati: 1 persona scrive il prompt, 1 persona collauda l'esito sui dati reali.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920240"/>
            <a:ext cx="3474720" cy="310896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19" y="205740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A9C8C"/>
                </a:solidFill>
              </a:defRPr>
            </a:pPr>
            <a:r>
              <a:t>3. Confronto e regola (5 min)</a:t>
            </a:r>
          </a:p>
          <a:p>
            <a:pPr>
              <a:spcAft>
                <a:spcPts val="1000"/>
              </a:spcAft>
              <a:defRPr sz="1300" b="1">
                <a:solidFill>
                  <a:srgbClr val="17344D"/>
                </a:solidFill>
              </a:defRPr>
            </a:pPr>
            <a:r>
              <a:t>Messa a punto e regola pratica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Proiettiamo i prompt, analizziamo cosa ha funzionato e fissiamo la buona pratica.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5303520"/>
            <a:ext cx="10972800" cy="155448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3949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300">
                <a:solidFill>
                  <a:srgbClr val="17344D"/>
                </a:solidFill>
              </a:defRPr>
            </a:pPr>
            <a:r>
              <a:t>LE 4 SFIDE DELLA LEZIONE: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1. «Basta chiacchiere»: vincoli e tabelle  |  2. «Un esempio vale 1000 parole»: Few-Shot per dati di processo</a:t>
            </a:r>
            <a:br/>
            <a:r>
              <a:t>3. «La calcolatrice che sbaglia»: passaggi logici CoT  |  4. «Il test del trabocchetto»: bloccare le allucinazioni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Il nostro pezzo grezzo: il rapporto di fermo (DOC-FERMO)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920240"/>
            <a:ext cx="4206240" cy="493776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05740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400">
                <a:solidFill>
                  <a:srgbClr val="1064A0"/>
                </a:solidFill>
              </a:defRPr>
            </a:pPr>
            <a:r>
              <a:t>COME USEREMO QUESTO TESTO: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È un rapporto didattico di manutenzione (DOC-FERMO nel vostro repository).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Tutte e 4 le sfide di oggi lavorano su questo identico frammento.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Copiatelo e incollatelo nella finestra di chat con cui lavorerete a coppie.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Il vostro compito sarà guidare l'AI ad estrarre, formattare, calcolare e astenersi.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920240"/>
            <a:ext cx="6537960" cy="4937760"/>
          </a:xfrm>
          <a:prstGeom prst="roundRect">
            <a:avLst/>
          </a:prstGeom>
          <a:solidFill>
            <a:srgbClr val="18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0" y="2148840"/>
            <a:ext cx="5943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200">
                <a:solidFill>
                  <a:srgbClr val="7DD3FC"/>
                </a:solidFill>
              </a:defRPr>
            </a:pPr>
            <a:r>
              <a:t>TESTO DA COPIARE NELLA CHAT:</a:t>
            </a:r>
          </a:p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t>Rapporto del 14 Ottobre (DOC-FERMO):</a:t>
            </a:r>
            <a:br/>
            <a:br/>
            <a:r>
              <a:t>Ore 14:20: la pressa P03 si è fermata per sovratemperatura dell'olio idraulico. Temperatura registrata: 78 °C. Soglia: 65 °C. Sostituito il filtro intasato con il ricambio FLT-992.</a:t>
            </a:r>
            <a:br/>
            <a:br/>
            <a:r>
              <a:t>Fermo macchina totale: 45 minuti.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Sfida 1 · «Basta chiacchiere» (Il problema nei processi)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920240"/>
            <a:ext cx="5303520" cy="493776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>
                <a:solidFill>
                  <a:srgbClr val="E27100"/>
                </a:solidFill>
              </a:defRPr>
            </a:pPr>
            <a:r>
              <a:t>COSA SUCCEDE SENZA VINCOLI</a:t>
            </a:r>
          </a:p>
          <a:p>
            <a:pPr>
              <a:spcAft>
                <a:spcPts val="1000"/>
              </a:spcAft>
              <a:defRPr b="1" sz="1300">
                <a:solidFill>
                  <a:srgbClr val="17344D"/>
                </a:solidFill>
              </a:defRPr>
            </a:pPr>
            <a:r>
              <a:t>Se chiedi semplicemente:</a:t>
            </a:r>
            <a:br/>
            <a:r>
              <a:t>«Riassumimi cosa è successo alla macchina»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✗ L'AI risponde con 3 lunghi paragrafi discorsivi.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✗ Apre con convenevoli: «Certamente! Ecco un riassunto dettagliato del fermo...»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✗ Chiude con formule di cortesia: «Spero sia utile, fammi sapere se serve altro!»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✗ Mescola i dati importanti con frasi ovvie.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920240"/>
            <a:ext cx="5394960" cy="493776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210312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>
                <a:solidFill>
                  <a:srgbClr val="1064A0"/>
                </a:solidFill>
              </a:defRPr>
            </a:pPr>
            <a:r>
              <a:t>PERCHÉ È UN BLOCCO AZIENDALE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I gestionali (MES / ERP) non leggono la prosa: richiedono campi precisi.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Se un operatore deve leggere 10 righe per trovare 1 ricambio, perde tempo.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Il prompt deve agire come una maschera di acquisizione dati.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Obiettivo industriale: estrarre solo i dati grezzi in forma tabellare a tolleranza zero.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Sfida 1 · Al lavoro a coppie (10 minuti)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920240"/>
            <a:ext cx="6492240" cy="493776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6035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1064A0"/>
                </a:solidFill>
              </a:defRPr>
            </a:pPr>
            <a:r>
              <a:t>CONSEGNA PER IL DRIVER (ALLA TASTIERA):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1. Tentativo libero: chiedi il riassunto con parole tue e osserva la risposta prolissa.</a:t>
            </a:r>
          </a:p>
          <a:p>
            <a:pPr>
              <a:spcAft>
                <a:spcPts val="600"/>
              </a:spcAft>
              <a:defRPr b="1" sz="1200">
                <a:solidFill>
                  <a:srgbClr val="17344D"/>
                </a:solidFill>
              </a:defRPr>
            </a:pPr>
            <a:r>
              <a:t>2. Tentativo con vincoli rigidi: invia questo prompt:</a:t>
            </a:r>
          </a:p>
          <a:p>
            <a:pPr>
              <a:defRPr sz="1100">
                <a:solidFill>
                  <a:srgbClr val="1064A0"/>
                </a:solidFill>
                <a:latin typeface="Consolas"/>
              </a:defRPr>
            </a:pPr>
            <a:r>
              <a:t>«Dal testo allegato estrai: Macchina, Causa fermo, Durata minuti, Codice ricambio.</a:t>
            </a:r>
            <a:br/>
            <a:r>
              <a:t>Rispondi SOLO con una tabella a 4 colonne.</a:t>
            </a:r>
            <a:br/>
            <a:r>
              <a:t>Vincolo rigido: nessun saluto, nessuna premessa, nessuna spiegazione prima o dopo la tabella.»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1920240"/>
            <a:ext cx="4206240" cy="493776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0" y="2103120"/>
            <a:ext cx="374903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300">
                <a:solidFill>
                  <a:srgbClr val="E27100"/>
                </a:solidFill>
              </a:defRPr>
            </a:pPr>
            <a:r>
              <a:t>RUOLO COLLAUDATORE (VERIFICA):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☐ Ci sono esattamente 4 colonne nella tabella?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☐ I valori numerici (45 min, 78 °C, FLT-992) sono esatti?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☐ L'AI ha scritto testo PRIMA della tabella?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☐ L'AI ha scritto testo DOPO la tabella?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☐ Se trovi testo superfluo, fallo correggere!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Sfida 1 · Cosa impariamo &amp; Regola 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920240"/>
            <a:ext cx="5303520" cy="310896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E27100"/>
                </a:solidFill>
              </a:defRPr>
            </a:pPr>
            <a:r>
              <a:t>SENZA VINCOLI NEGATIVI: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«Certamente! Ecco il riassunto dell'evento verificatosi il 14 ottobre sulla pressa P03. La macchina ha subito una sovratemperatura a 78 gradi... Spero ti sia utile!»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920240"/>
            <a:ext cx="5394960" cy="3108960"/>
          </a:xfrm>
          <a:prstGeom prst="roundRect">
            <a:avLst/>
          </a:prstGeom>
          <a:solidFill>
            <a:srgbClr val="18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2103120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7DD3FC"/>
                </a:solidFill>
              </a:defRPr>
            </a:pPr>
            <a:r>
              <a:t>CON VINCOLI RIGIDI (USCITA DI PROCESSO):</a:t>
            </a:r>
          </a:p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| Macchina | Causa       | Durata | Ricambio |</a:t>
            </a:r>
            <a:br/>
            <a:r>
              <a:t>| P03      | Sovratemp.  | 45 min | FLT-992  |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5303520"/>
            <a:ext cx="10972800" cy="15544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440680"/>
            <a:ext cx="10424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27100"/>
                </a:solidFill>
                <a:latin typeface="Arial"/>
              </a:defRPr>
            </a:pPr>
            <a:r>
              <a:t>💡 REGOLA PRATICA 1:</a:t>
            </a:r>
          </a:p>
          <a:p>
            <a:pPr>
              <a:defRPr sz="1300" b="1">
                <a:solidFill>
                  <a:srgbClr val="92400E"/>
                </a:solidFill>
                <a:latin typeface="Arial"/>
              </a:defRPr>
            </a:pPr>
            <a:r>
              <a:t>Il prompt è una dima: se non fissi i confini e i vincoli negativi («nessun saluto, nessuna spiegazione»), l'AI riempie lo spazio con convenevoli inutilizzabili per un processo industriale.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Sfida 2 · «Un esempio vale 1000 parole» (Il problema)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920240"/>
            <a:ext cx="10972800" cy="493776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10312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>
                <a:solidFill>
                  <a:srgbClr val="1064A0"/>
                </a:solidFill>
              </a:defRPr>
            </a:pPr>
            <a:r>
              <a:t>IL PROBLEMA: SPIEGARE LO STILE A PAROLE PORTA AL CAOS</a:t>
            </a:r>
          </a:p>
          <a:p>
            <a:pPr>
              <a:spcAft>
                <a:spcPts val="1400"/>
              </a:spcAft>
              <a:defRPr sz="1300">
                <a:solidFill>
                  <a:srgbClr val="1E293B"/>
                </a:solidFill>
              </a:defRPr>
            </a:pPr>
            <a:r>
              <a:t>Vogliamo registrare il fermo in una riga compatta per il gestionale di manutenzione.</a:t>
            </a:r>
            <a:br/>
            <a:r>
              <a:t>Se date solo l'istruzione: «Scrivi una riga breve, sintetica e tecnica per il registro», ogni coppia otterrà stili diversi:</a:t>
            </a:r>
          </a:p>
          <a:p>
            <a:pPr>
              <a:spcAft>
                <a:spcPts val="800"/>
              </a:spcAft>
              <a:defRPr sz="1300">
                <a:solidFill>
                  <a:srgbClr val="64748B"/>
                </a:solidFill>
              </a:defRPr>
            </a:pPr>
            <a:r>
              <a:t>Coppia 1:  «14/10/2026 - Pressa P03 ferma 45 min per guasto all'olio.»</a:t>
            </a:r>
          </a:p>
          <a:p>
            <a:pPr>
              <a:spcAft>
                <a:spcPts val="800"/>
              </a:spcAft>
              <a:defRPr sz="1300">
                <a:solidFill>
                  <a:srgbClr val="64748B"/>
                </a:solidFill>
              </a:defRPr>
            </a:pPr>
            <a:r>
              <a:t>Coppia 2:  «Fermo P03: temperatura 78C, ricambio filtro FLT-992.»</a:t>
            </a:r>
          </a:p>
          <a:p>
            <a:pPr>
              <a:spcAft>
                <a:spcPts val="800"/>
              </a:spcAft>
              <a:defRPr sz="1300">
                <a:solidFill>
                  <a:srgbClr val="1064A0"/>
                </a:solidFill>
              </a:defRPr>
            </a:pPr>
            <a:r>
              <a:t>Coppia 3:  «P03 (45 min) | ALLARME TEMPERATURA | Sostituito FLT-992»</a:t>
            </a:r>
          </a:p>
          <a:p>
            <a:pPr>
              <a:spcBef>
                <a:spcPts val="1000"/>
              </a:spcBef>
              <a:defRPr b="1" sz="1300">
                <a:solidFill>
                  <a:srgbClr val="17344D"/>
                </a:solidFill>
              </a:defRPr>
            </a:pPr>
            <a:r>
              <a:t>In azienda serve uniformità al 100%. Come si fa a imporre lo stile senza scrivere 20 righe di regole astratte?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Sfida 2 · Al lavoro a coppie (10 minuti)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920240"/>
            <a:ext cx="6492240" cy="493776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6035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1064A0"/>
                </a:solidFill>
              </a:defRPr>
            </a:pPr>
            <a:r>
              <a:t>CONSEGNA DRIVER (FEW-SHOT):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Riscrivete il prompt fornendo un solo esempio di riferimento:</a:t>
            </a:r>
          </a:p>
          <a:p>
            <a:pPr>
              <a:defRPr sz="1100">
                <a:solidFill>
                  <a:srgbClr val="1064A0"/>
                </a:solidFill>
                <a:latin typeface="Consolas"/>
              </a:defRPr>
            </a:pPr>
            <a:r>
              <a:t>«Crea una riga di registro manutenzione seguendo ESATTAMENTE lo stile di questo esempio:</a:t>
            </a:r>
            <a:br/>
            <a:br/>
            <a:r>
              <a:t>Esempio: [Linea 1] 20 min | BLOCCO NASTRO | RICAMBIO: CINGHIA-B12</a:t>
            </a:r>
            <a:br/>
            <a:br/>
            <a:r>
              <a:t>Ora genera la riga per il rapporto allegato della pressa P03.»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1920240"/>
            <a:ext cx="4206240" cy="493776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0" y="2103120"/>
            <a:ext cx="374903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300">
                <a:solidFill>
                  <a:srgbClr val="E27100"/>
                </a:solidFill>
              </a:defRPr>
            </a:pPr>
            <a:r>
              <a:t>RUOLO COLLAUDATORE: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☐ Ha usato le parentesi quadre [P03]?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☐ Ha indicato i minuti (45 min)?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☐ Ha usato le barre verticali | come separatore?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☐ Ha scritto RICAMBIO: FLT-992 in maiuscolo?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☐ Ha aggiunto testo extra non richiesto?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Sfida 2 · Cosa impariamo &amp; Regola 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920240"/>
            <a:ext cx="10972800" cy="310896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103120"/>
            <a:ext cx="10424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>
                <a:solidFill>
                  <a:srgbClr val="17344D"/>
                </a:solidFill>
              </a:defRPr>
            </a:pPr>
            <a:r>
              <a:t>PERCHÉ IL FEW-SHOT È SUPERIORE ALLE SPIEGAZIONI ASTRATTE?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Zero-Shot (solo spiegazione): «Usa le barre, sii conciso, metti il ricambio in maiuscolo...» → Il modello può perdersi qualche vincolo.</a:t>
            </a:r>
            <a:br/>
            <a:r>
              <a:t>• Few-Shot (con 1 esempio): l'AI riconosce il pattern visivo e sintattico e lo clona fedelmente al 100% al primo colpo.</a:t>
            </a:r>
          </a:p>
          <a:p>
            <a:pPr>
              <a:defRPr sz="1300" b="1">
                <a:solidFill>
                  <a:srgbClr val="1064A0"/>
                </a:solidFill>
                <a:latin typeface="Consolas"/>
              </a:defRPr>
            </a:pPr>
            <a:r>
              <a:t>Risultato ottenuto: [P03] 45 min | SOVRATEMPERATURA OLIO | RICAMBIO: FLT-992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5303520"/>
            <a:ext cx="10972800" cy="15544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440680"/>
            <a:ext cx="10424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27100"/>
                </a:solidFill>
                <a:latin typeface="Arial"/>
              </a:defRPr>
            </a:pPr>
            <a:r>
              <a:t>💡 REGOLA PRATICA 2:</a:t>
            </a:r>
          </a:p>
          <a:p>
            <a:pPr>
              <a:defRPr sz="1300" b="1">
                <a:solidFill>
                  <a:srgbClr val="92400E"/>
                </a:solidFill>
                <a:latin typeface="Arial"/>
              </a:defRPr>
            </a:pPr>
            <a:r>
              <a:t>Non perdere tempo a spiegare lo stile a parole: mostra all'AI 1 o 2 esempi pratici di input/output. Gli LLM apprendono e si standardizzano per imitazione di pattern.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Sfida 3 · «La calcolatrice che sbaglia» (Il problema)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920240"/>
            <a:ext cx="5303520" cy="493776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>
                <a:solidFill>
                  <a:srgbClr val="E27100"/>
                </a:solidFill>
              </a:defRPr>
            </a:pPr>
            <a:r>
              <a:t>L'ILLUSIONE DELLA CALCOLATRICE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Un LLM non è una calcolatrice: non fa operazioni logiche su registri di memoria.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Un LLM predice la parola (o il numero) più probabile.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Se chiedi un calcolo con una risposta secca, l'AI tenta di 'indovinare' il totale.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Sui calcoli con unità di misura (es. minuti vs ore) l'errore è dietro l'angolo.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920240"/>
            <a:ext cx="5394960" cy="493776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210312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>
                <a:solidFill>
                  <a:srgbClr val="1064A0"/>
                </a:solidFill>
              </a:defRPr>
            </a:pPr>
            <a:r>
              <a:t>IL CASO PRATICO DI PRODUZIONE</a:t>
            </a:r>
          </a:p>
          <a:p>
            <a:pPr>
              <a:spcAft>
                <a:spcPts val="600"/>
              </a:spcAft>
              <a:defRPr sz="1300" b="0">
                <a:solidFill>
                  <a:srgbClr val="1E293B"/>
                </a:solidFill>
              </a:defRPr>
            </a:pPr>
            <a:r>
              <a:t>• Tariffa oraria di fermo linea: 160 € / ora.</a:t>
            </a:r>
          </a:p>
          <a:p>
            <a:pPr>
              <a:spcAft>
                <a:spcPts val="600"/>
              </a:spcAft>
              <a:defRPr sz="1300" b="0">
                <a:solidFill>
                  <a:srgbClr val="1E293B"/>
                </a:solidFill>
              </a:defRPr>
            </a:pPr>
            <a:r>
              <a:t>• Durata del fermo registrata: 45 minuti.</a:t>
            </a:r>
          </a:p>
          <a:p>
            <a:pPr>
              <a:spcAft>
                <a:spcPts val="600"/>
              </a:spcAft>
              <a:defRPr sz="1300" b="0">
                <a:solidFill>
                  <a:srgbClr val="1E293B"/>
                </a:solidFill>
              </a:defRPr>
            </a:pPr>
            <a:r>
              <a:t>• Quanto è costato il fermo all'azienda?</a:t>
            </a:r>
          </a:p>
          <a:p>
            <a:pPr>
              <a:spcAft>
                <a:spcPts val="600"/>
              </a:spcAft>
              <a:defRPr sz="1300" b="0">
                <a:solidFill>
                  <a:srgbClr val="1E293B"/>
                </a:solidFill>
              </a:defRPr>
            </a:pPr>
            <a:r>
              <a:t>• Trappola mentale: 45 minuti NON sono 0,45 ore!</a:t>
            </a:r>
          </a:p>
          <a:p>
            <a:pPr>
              <a:spcAft>
                <a:spcPts val="600"/>
              </a:spcAft>
              <a:defRPr sz="1300" b="0">
                <a:solidFill>
                  <a:srgbClr val="1E293B"/>
                </a:solidFill>
              </a:defRPr>
            </a:pPr>
            <a:r>
              <a:t>• 45 minuti = 0,75 ore (45 / 60).</a:t>
            </a:r>
          </a:p>
          <a:p>
            <a:pPr>
              <a:spcAft>
                <a:spcPts val="600"/>
              </a:spcAft>
              <a:defRPr sz="1300" b="1">
                <a:solidFill>
                  <a:srgbClr val="17344D"/>
                </a:solidFill>
              </a:defRPr>
            </a:pPr>
            <a:r>
              <a:t>• Calcolo esatto: 0,75 × 160 € = 120 € esatti.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Sfida 3 · Al lavoro a coppie (10 minuti)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920240"/>
            <a:ext cx="6492240" cy="493776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6035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1064A0"/>
                </a:solidFill>
              </a:defRPr>
            </a:pPr>
            <a:r>
              <a:t>DUE TEST DA CONFRONTARE:</a:t>
            </a:r>
          </a:p>
          <a:p>
            <a:pPr>
              <a:defRPr b="1" sz="1200">
                <a:solidFill>
                  <a:srgbClr val="E27100"/>
                </a:solidFill>
              </a:defRPr>
            </a:pPr>
            <a:r>
              <a:t>Test A (Risposta secca):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  <a:latin typeface="Consolas"/>
              </a:defRPr>
            </a:pPr>
            <a:r>
              <a:t>«Il costo di fermo è 160 €/ora. Dal testo calcola il costo del fermo della P03. Rispondi subito solo con la cifra finale in euro.»</a:t>
            </a:r>
          </a:p>
          <a:p>
            <a:pPr>
              <a:defRPr b="1" sz="1200">
                <a:solidFill>
                  <a:srgbClr val="1A9C8C"/>
                </a:solidFill>
              </a:defRPr>
            </a:pPr>
            <a:r>
              <a:t>Test B (Passaggi forzati - Chain of Thought):</a:t>
            </a:r>
          </a:p>
          <a:p>
            <a:pPr>
              <a:defRPr sz="1000">
                <a:solidFill>
                  <a:srgbClr val="1064A0"/>
                </a:solidFill>
                <a:latin typeface="Consolas"/>
              </a:defRPr>
            </a:pPr>
            <a:r>
              <a:t>«Calcola il costo del fermo spiegando prima i passaggi intermedi:</a:t>
            </a:r>
            <a:br/>
            <a:r>
              <a:t>Passo 1: Minuti totali di fermo estratti dal testo.</a:t>
            </a:r>
            <a:br/>
            <a:r>
              <a:t>Passo 2: Conversione minuti in ore decimali (minuti / 60).</a:t>
            </a:r>
            <a:br/>
            <a:r>
              <a:t>Passo 3: Moltiplicazione ore per tariffa (160 €/ora).</a:t>
            </a:r>
            <a:br/>
            <a:r>
              <a:t>Passo 4: Scrivi il totale finale in euro.»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1920240"/>
            <a:ext cx="4206240" cy="493776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0" y="2103120"/>
            <a:ext cx="374903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300">
                <a:solidFill>
                  <a:srgbClr val="E27100"/>
                </a:solidFill>
              </a:defRPr>
            </a:pPr>
            <a:r>
              <a:t>RUOLO COLLAUDATORE: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☐ Nel Test A il modello ha sparato un numero a caso?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☐ Ha considerato 45 min = 0,45 ore?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☐ Nel Test B la conversione 45/60 = 0,75 è esplicitata?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☐ Verifica con la calcolatrice del telefono: 0,75 × 160 = 120?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☐ I passaggi intermedi rendono l'errore visibile!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Sfida 3 · Cosa impariamo &amp; Regola 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920240"/>
            <a:ext cx="10972800" cy="310896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103120"/>
            <a:ext cx="10424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17344D"/>
                </a:solidFill>
              </a:defRPr>
            </a:pPr>
            <a:r>
              <a:t>COME «PENSA» UN MODELLO DI LINGUAGGIO?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L'AI non ha una memoria interna nascosta per fare i conti prima di parlare.</a:t>
            </a:r>
            <a:br/>
            <a:r>
              <a:t>• L'AI 'pensa con i token che scrive' a schermo!</a:t>
            </a:r>
            <a:br/>
            <a:r>
              <a:t>• Se le impedisci di scrivere i passaggi, la costringi a tirare a indovinare il risultato finale.</a:t>
            </a:r>
            <a:br/>
            <a:r>
              <a:t>• Scrivere '45 / 60 = 0,75' genera i token necessari per calcolare correttamente '0,75 * 160 = 120'.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5303520"/>
            <a:ext cx="10972800" cy="15544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440680"/>
            <a:ext cx="10424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27100"/>
                </a:solidFill>
                <a:latin typeface="Arial"/>
              </a:defRPr>
            </a:pPr>
            <a:r>
              <a:t>💡 REGOLA PRATICA 3:</a:t>
            </a:r>
          </a:p>
          <a:p>
            <a:pPr>
              <a:defRPr sz="1300" b="1">
                <a:solidFill>
                  <a:srgbClr val="92400E"/>
                </a:solidFill>
                <a:latin typeface="Arial"/>
              </a:defRPr>
            </a:pPr>
            <a:r>
              <a:t>Per calcoli, formule o logiche con eccezioni, chiedi sempre all'AI di scrivere i passaggi intermedi (Chain-of-Thought). La visibilità del ragionamento garantisce la controllabilità umana del processo.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Sfida 4 · «Il test del trabocchetto» (Il problema)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920240"/>
            <a:ext cx="5303520" cy="493776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>
                <a:solidFill>
                  <a:srgbClr val="E27100"/>
                </a:solidFill>
              </a:defRPr>
            </a:pPr>
            <a:r>
              <a:t>LA TRAPPOLA DELL'ALLUCINAZIONE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✗ Gli LLM sono addestrati per essere collaborativi e rispondere sempre.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✗ Quando un dato non c'è, provano a indovinare cosa sarebbe 'plausibile'.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✗ Rispondono con sicurezza totale anche quando dicono falsità integrali.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✗ In un contesto informale non fa danni; in fabbrica è inaccettabile.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920240"/>
            <a:ext cx="5394960" cy="493776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210312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>
                <a:solidFill>
                  <a:srgbClr val="1064A0"/>
                </a:solidFill>
              </a:defRPr>
            </a:pPr>
            <a:r>
              <a:t>I RISCHI IN AMBIENTE INDUSTRIALE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Un codice ricambio inventato genera ordini errati a fornitore.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Un valore di soglia inventato rischia di rompere la macchina.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Una procedura di sicurezza inventata mette a rischio l'operatore.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Regola industriale: meglio un 'Non lo so' immediato che una risposta falsa plausibile.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Sfida 4 · Al lavoro a coppie (10 minuti)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920240"/>
            <a:ext cx="6492240" cy="493776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6035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E27100"/>
                </a:solidFill>
              </a:defRPr>
            </a:pPr>
            <a:r>
              <a:t>IL TRABOCCHETTO: IL NOME DELL'OPERATORE NON C'È!</a:t>
            </a:r>
          </a:p>
          <a:p>
            <a:pPr>
              <a:defRPr b="1" sz="1200">
                <a:solidFill>
                  <a:srgbClr val="17344D"/>
                </a:solidFill>
              </a:defRPr>
            </a:pPr>
            <a:r>
              <a:t>1. Domanda ingenua (senza paracadute):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Consolas"/>
              </a:defRPr>
            </a:pPr>
            <a:r>
              <a:t>«Chi è l'operatore che ha effettuato la sostituzione del filtro della P03?»</a:t>
            </a:r>
          </a:p>
          <a:p>
            <a:pPr>
              <a:defRPr b="1" sz="1200">
                <a:solidFill>
                  <a:srgbClr val="1064A0"/>
                </a:solidFill>
              </a:defRPr>
            </a:pPr>
            <a:r>
              <a:t>2. Domanda blindata (con clausola di astensione):</a:t>
            </a:r>
          </a:p>
          <a:p>
            <a:pPr>
              <a:defRPr sz="1000">
                <a:solidFill>
                  <a:srgbClr val="1064A0"/>
                </a:solidFill>
                <a:latin typeface="Consolas"/>
              </a:defRPr>
            </a:pPr>
            <a:r>
              <a:t>«Chi è l'operatore che ha effettuato l'intervento?</a:t>
            </a:r>
            <a:br/>
            <a:r>
              <a:t>Regola tassativa: rispondi basandoti ESCLUSIVAMENTE sulle informazioni scritte nel testo.</a:t>
            </a:r>
            <a:br/>
            <a:r>
              <a:t>Se l'informazione non è presente o non è certa, rispondi testualmente con: 'DATO NON PRESENTE'. Non inventare nulla.»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1920240"/>
            <a:ext cx="4206240" cy="493776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0" y="2103120"/>
            <a:ext cx="374903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300">
                <a:solidFill>
                  <a:srgbClr val="E27100"/>
                </a:solidFill>
              </a:defRPr>
            </a:pPr>
            <a:r>
              <a:t>RUOLO COLLAUDATORE: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☐ Nel test 1 ha provato a ipotizzare ('il tecnico della manutenzione...')?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☐ Nel test 1 ha inventato un nome proprio?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☐ Nel test 2 ha risposto esattamente 'DATO NON PRESENTE'?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☐ Ha aggiunto scuse o premesse?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☐ Se si è astenuta senza inventare, il test è SUPERATO!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Sfida 4 · Cosa impariamo &amp; Regola 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920240"/>
            <a:ext cx="10972800" cy="310896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103120"/>
            <a:ext cx="10424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17344D"/>
                </a:solidFill>
              </a:defRPr>
            </a:pPr>
            <a:r>
              <a:t>IL PARACADUTE DELLA VERIFICA AZIENDALE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L'AI non sa cosa 'non sa' finché non glielo chiedi esplicitamente.</a:t>
            </a:r>
            <a:br/>
            <a:r>
              <a:t>• Se la lasci libera, tenterà di compiacerti formulando un'ipotesi plausibile.</a:t>
            </a:r>
            <a:br/>
            <a:r>
              <a:t>• Inserire la clausola di astensione («Se non presente, scrivi DATO NON PRESENTE») crea un paracadute formale.</a:t>
            </a:r>
            <a:br/>
            <a:r>
              <a:t>• In fabbrica un assistente AI deve avere il coraggio di dire 'non lo so' per essere affidabile.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5303520"/>
            <a:ext cx="10972800" cy="15544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440680"/>
            <a:ext cx="10424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27100"/>
                </a:solidFill>
                <a:latin typeface="Arial"/>
              </a:defRPr>
            </a:pPr>
            <a:r>
              <a:t>💡 REGOLA PRATICA 4:</a:t>
            </a:r>
          </a:p>
          <a:p>
            <a:pPr>
              <a:defRPr sz="1300" b="1">
                <a:solidFill>
                  <a:srgbClr val="92400E"/>
                </a:solidFill>
                <a:latin typeface="Arial"/>
              </a:defRPr>
            </a:pPr>
            <a:r>
              <a:t>In azienda un'invenzione plausibile fa danni gravi. Bisogna sempre autorizzare formalmente l'AI ad astenersi («Se l'informazione non è scritta nel testo, rispondi DATO NON PRESENTE»).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Il ponte verso Unsloth Studio e i Documenti (RAG)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920240"/>
          <a:ext cx="109728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931920"/>
                <a:gridCol w="3931920"/>
              </a:tblGrid>
              <a:tr h="786384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Oggi nel prompt</a:t>
                      </a:r>
                    </a:p>
                  </a:txBody>
                  <a:tcPr>
                    <a:solidFill>
                      <a:srgbClr val="1734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Nel processo aziendale</a:t>
                      </a:r>
                    </a:p>
                  </a:txBody>
                  <a:tcPr>
                    <a:solidFill>
                      <a:srgbClr val="1734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Con Unsloth Studio e RAG</a:t>
                      </a:r>
                    </a:p>
                  </a:txBody>
                  <a:tcPr>
                    <a:solidFill>
                      <a:srgbClr val="17344D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Tabelle e vincoli negativi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Dati puliti per MES / ERP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Estrazione automatica nei campi database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Few-shot con 1 esempio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Standardizzazione bollettini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Classificazione automatica cartellini guasto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Passaggi intermedi (CoT)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Controllo qualità e tempi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Verifica incrociata tra formule e registri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Clausola di astensione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Sicurezza e zero allucinazioni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Risposte affidabili basate solo sui manuali tecnici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94360" y="6035040"/>
            <a:ext cx="10972800" cy="822960"/>
          </a:xfrm>
          <a:prstGeom prst="roundRect">
            <a:avLst/>
          </a:prstGeom>
          <a:solidFill>
            <a:srgbClr val="18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080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7DD3FC"/>
                </a:solidFill>
              </a:defRPr>
            </a:pPr>
            <a:r>
              <a:t>PROSSIMO PASSO: E quando i documenti sono manuali di 100 pagine? Collegheremo l'AI all'archivio con Unsloth Studio!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Riepilogo finale: cosa sappiamo fare da oggi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920240"/>
            <a:ext cx="10972800" cy="402336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103120"/>
            <a:ext cx="10424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400">
                <a:solidFill>
                  <a:srgbClr val="1064A0"/>
                </a:solidFill>
              </a:defRPr>
            </a:pPr>
            <a:r>
              <a:t>LE 4 COMPETENZE OPERATIVE ACQUISITE OGGI: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1. Eliminare i convenevoli: usare vincoli negativi per ottenere solo tabelle e dati utili al gestionale.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2. Guidare con l'esempio: usare il Few-Shot per fissare lo stile senza scrivere pagine di spiegazioni astratte.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3. Verificare i calcoli: forzare i passaggi intermedi (Chain-of-Thought) per non far tirare a indovinare i numeri.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4. Blindare dall'allucinazione: dare sempre il permesso formale di dire 'DATO NON PRESENTE'.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6126480"/>
            <a:ext cx="10972800" cy="822960"/>
          </a:xfrm>
          <a:prstGeom prst="roundRect">
            <a:avLst/>
          </a:prstGeom>
          <a:solidFill>
            <a:srgbClr val="173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6172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Alla macchina il volume e l'esecuzione. Alla persona il controllo e la responsabilità.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TS MAKER">
  <a:themeElements>
    <a:clrScheme name="ITS MAKER">
      <a:dk1>
        <a:srgbClr val="17344D"/>
      </a:dk1>
      <a:lt1>
        <a:srgbClr val="FFFFFF"/>
      </a:lt1>
      <a:dk2>
        <a:srgbClr val="4B6275"/>
      </a:dk2>
      <a:lt2>
        <a:srgbClr val="EAF0F6"/>
      </a:lt2>
      <a:accent1>
        <a:srgbClr val="1064A0"/>
      </a:accent1>
      <a:accent2>
        <a:srgbClr val="1A9C8C"/>
      </a:accent2>
      <a:accent3>
        <a:srgbClr val="E27100"/>
      </a:accent3>
      <a:accent4>
        <a:srgbClr val="F2B33D"/>
      </a:accent4>
      <a:accent5>
        <a:srgbClr val="5E7488"/>
      </a:accent5>
      <a:accent6>
        <a:srgbClr val="6E9BD1"/>
      </a:accent6>
      <a:hlink>
        <a:srgbClr val="1064A0"/>
      </a:hlink>
      <a:folHlink>
        <a:srgbClr val="5E7488"/>
      </a:folHlink>
    </a:clrScheme>
    <a:fontScheme name="ITS MAKE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5377</Words>
  <Application>Microsoft Office PowerPoint</Application>
  <PresentationFormat>Personalizzato</PresentationFormat>
  <Paragraphs>782</Paragraphs>
  <Slides>41</Slides>
  <Notes>41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41</vt:i4>
      </vt:variant>
    </vt:vector>
  </HeadingPairs>
  <TitlesOfParts>
    <vt:vector size="44" baseType="lpstr">
      <vt:lpstr>Arial</vt:lpstr>
      <vt:lpstr>Courier New</vt:lpstr>
      <vt:lpstr>ITS MAKER</vt:lpstr>
      <vt:lpstr>Digitalizzare i processi con l'Intelligenza Artificiale</vt:lpstr>
      <vt:lpstr>Il piano di oggi</vt:lpstr>
      <vt:lpstr>Cosa saprete fare a fine corso</vt:lpstr>
      <vt:lpstr>Digitalizzare un processo</vt:lpstr>
      <vt:lpstr>Ogni processo ha tre parti</vt:lpstr>
      <vt:lpstr>Tre esempi dal mondo del lavoro</vt:lpstr>
      <vt:lpstr>Zoom: il processo fatture</vt:lpstr>
      <vt:lpstr>Tocca a voi: mappate un processo</vt:lpstr>
      <vt:lpstr>Uomo o macchina?</vt:lpstr>
      <vt:lpstr>Chi fa meglio cosa</vt:lpstr>
      <vt:lpstr>Sei criteri per decidere</vt:lpstr>
      <vt:lpstr>La matrice di delega</vt:lpstr>
      <vt:lpstr>Il ciclo di controllo in macchina</vt:lpstr>
      <vt:lpstr>Cinque modi per controllare l'AI</vt:lpstr>
      <vt:lpstr>Gli LLM</vt:lpstr>
      <vt:lpstr>Un LLM prevede la parola successiva</vt:lpstr>
      <vt:lpstr>Come impara un LLM</vt:lpstr>
      <vt:lpstr>I modelli proprietari, ottobre 2026</vt:lpstr>
      <vt:lpstr>Modelli aperti e modelli italiani</vt:lpstr>
      <vt:lpstr>Architetture</vt:lpstr>
      <vt:lpstr>SaaS: usi un'app pronta</vt:lpstr>
      <vt:lpstr>API: costruisci il tuo sistema</vt:lpstr>
      <vt:lpstr>Tre strade a confronto</vt:lpstr>
      <vt:lpstr>Com'è fatta una chiamata API</vt:lpstr>
      <vt:lpstr>RAG sui documenti</vt:lpstr>
      <vt:lpstr>Il problema e l'idea del RAG</vt:lpstr>
      <vt:lpstr>Come funziona il RAG</vt:lpstr>
      <vt:lpstr>Embedding: la mappa dei significati</vt:lpstr>
      <vt:lpstr>Limiti e contro del RAG</vt:lpstr>
      <vt:lpstr>Token, contesto, temperatura</vt:lpstr>
      <vt:lpstr>Il token, unità di misura degli LLM</vt:lpstr>
      <vt:lpstr>La finestra di contesto</vt:lpstr>
      <vt:lpstr>Temperatura: quanto osa il modello</vt:lpstr>
      <vt:lpstr>Quale temperatura usare</vt:lpstr>
      <vt:lpstr>Tecniche di prompting</vt:lpstr>
      <vt:lpstr>Anatomia di un buon prompt</vt:lpstr>
      <vt:lpstr>Sei tipi di prompting</vt:lpstr>
      <vt:lpstr>Metamodelli di ragionamento (1/2)</vt:lpstr>
      <vt:lpstr>Metamodelli di ragionamento (2/2)</vt:lpstr>
      <vt:lpstr>Cosa portiamo a casa</vt:lpstr>
      <vt:lpstr>Grazie per la partecipazione</vt:lpstr>
    </vt:vector>
  </TitlesOfParts>
  <Company>ITS MAKER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Digitalizzare i processi con l'Intelligenza Artificiale – Lezione 1</dc:title>
  <dc:subject>ITS MAKER Academy · Corso di Intelligenza Artificiale</dc:subject>
  <dc:creator>ITS MAKER Academy</dc:creator>
  <cp:lastModifiedBy>Simone MILLI</cp:lastModifiedBy>
  <cp:revision>4</cp:revision>
  <dcterms:created xsi:type="dcterms:W3CDTF">2026-10-23T07:04:25Z</dcterms:created>
  <dcterms:modified xsi:type="dcterms:W3CDTF">2026-10-23T15:28:27Z</dcterms:modified>
</cp:coreProperties>
</file>